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D49D9B-FAD0-43E0-9D92-EA036DA41FFC}">
  <a:tblStyle styleId="{4BD49D9B-FAD0-43E0-9D92-EA036DA41F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935f132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935f132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935f1326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935f1326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8935f1326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8935f1326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515e826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515e826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97b6eb8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97b6eb8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92ddf388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92ddf388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92ddf388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92ddf388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b606161d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b606161d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Phase I System Presentation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Bagel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1: Real-Time Obstacle Detection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AS-IS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Jaeger needs to use the restroom urgently, but he doesn’t know where the nearest one is located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He wanders down hallways touching walls and counting doors </a:t>
            </a:r>
            <a:r>
              <a:rPr lang="en" sz="1350"/>
              <a:t>with</a:t>
            </a:r>
            <a:r>
              <a:rPr lang="en" sz="1350"/>
              <a:t> his cane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He must approach strangers to ask for help. 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After 10 minutes of searching, he finally locates a restroom</a:t>
            </a:r>
            <a:endParaRPr sz="135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TO-BE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Jaeger opens Theia and says “Find nearest restroom”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 app identifies his current location and the three nearest restrooms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It announces “Nearest restroom is 30 steps ahead on your right”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Jaeger navigates confidently using the voice guidance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He reaches the restroom in under 2 minutes</a:t>
            </a:r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2: Emergency Assistance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AS-IS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Josh is walking down his staircase at home.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He misjudges the last step, trips, and falls forward.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His phone slips out of his hand, he feels disoriented and in pain.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With no one around, he struggles to reach for his phone and call for help, feeling anxious and unsafe.</a:t>
            </a:r>
            <a:endParaRPr sz="135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TO-BE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Theia </a:t>
            </a:r>
            <a:r>
              <a:rPr lang="en" sz="1350"/>
              <a:t>continuously</a:t>
            </a:r>
            <a:r>
              <a:rPr lang="en" sz="1350"/>
              <a:t> monitors Josh’s movement patterns using the phone’s accelerometer and gyroscope.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When a </a:t>
            </a:r>
            <a:r>
              <a:rPr lang="en" sz="1350"/>
              <a:t>sudden, unusual impact is detected (consistent with a fall), Theia immediately activates its safety protocol.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 app speaks a clear message “It looks like you may have fallen. Are you ok? Say ‘Yes’ to cancel emergency assistance.”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If no response, automatically calls Josh’s emergency contact and shares his exact indoor location.</a:t>
            </a:r>
            <a:endParaRPr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3: GPS Speech Navigation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AS-IS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has just arrived to campus and needs to navigate her way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She uses her cane to feel her way through the halls, asking bystanders if she is going the right direction.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eventually arrives to class, but has shown up late after going down the wrong hallway or got off the elevator on the wrong floor.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TO-BE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has just arrived to campus and needs to navigate her way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She uses Theia’s voice recognition to set a path destination to her upcoming class.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 application uses text-to-speech software to direct Grace on which halls to turn down and which floors to get off on.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Grace arrives to class on time. </a:t>
            </a:r>
            <a:endParaRPr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3 Analysis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099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What if the user inputs an invalid address or room?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Theia tries to match the spoken address to the closest possible match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If one is found, speak a confirmation message saying “did you mean ___?”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If the answer is no or if one could not be found, issue a voice notification telling them to re-enter a valid </a:t>
            </a:r>
            <a:r>
              <a:rPr lang="en" sz="1350"/>
              <a:t>address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Who configures the application?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 friend or family member of the user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An accessibility staff member or administrator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/>
              <a:t>What kinds of buildings are </a:t>
            </a:r>
            <a:r>
              <a:rPr lang="en" sz="1350"/>
              <a:t>supported?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Any floor map already loaded into external sites such as Google or Apple maps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Any floor map previously scanned or loaded into the application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Any floor map previously configured by the family member or acquaintance who originally configured the application</a:t>
            </a:r>
            <a:endParaRPr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 3 Analysis (continued)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5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When does Theia activate?</a:t>
            </a:r>
            <a:endParaRPr sz="17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Begins guidance once a destination is confirmed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Gives real-time voice directions as the user moves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Detects pauses/wrong turns and asks “Would you like to repeat or adjust your route?”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How should Theia interact?</a:t>
            </a:r>
            <a:endParaRPr sz="17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Pause when user speaks, then resumes guidance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Uses short, clear step-by-step instructions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Adapts dynamically to route changes or new obstacles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Takeaway:</a:t>
            </a:r>
            <a:endParaRPr sz="17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Ensures smooth, responsive interaction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- Traditional Tools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017725"/>
            <a:ext cx="403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/>
              <a:t>Cane</a:t>
            </a:r>
            <a:endParaRPr sz="1350"/>
          </a:p>
          <a:p>
            <a:pPr indent="-314325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b="1" lang="en" sz="1350"/>
              <a:t>Strengths:</a:t>
            </a:r>
            <a:endParaRPr b="1"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Provides direct physical feedback.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Low cost and highly reliable (no batteries or software).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Universally recognized symbol of visual impairment.</a:t>
            </a:r>
            <a:endParaRPr sz="1350"/>
          </a:p>
          <a:p>
            <a:pPr indent="-31432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b="1" lang="en" sz="1350"/>
              <a:t>Limitations:</a:t>
            </a:r>
            <a:endParaRPr b="1"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Limited range; only detects obstacles a few feet ahead.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Cannot detect head-level hazards (e.g., low-hanging branches).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Provides no information about the broader environment.</a:t>
            </a:r>
            <a:endParaRPr sz="1350"/>
          </a:p>
          <a:p>
            <a:pPr indent="-31432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No navigational guidance.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4801200" y="1017725"/>
            <a:ext cx="403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/>
              <a:t>Guide Dog</a:t>
            </a:r>
            <a:endParaRPr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b="1" lang="en" sz="1350"/>
              <a:t>Strengths:</a:t>
            </a:r>
            <a:endParaRPr b="1"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Intelligently navigates around people and complex obstacles, including overhead ones.</a:t>
            </a:r>
            <a:endParaRPr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Can be trained to find specific objects like doors, stairs, or empty chairs.</a:t>
            </a:r>
            <a:endParaRPr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Provides companionship and a sense of security.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●"/>
            </a:pPr>
            <a:r>
              <a:rPr b="1" lang="en" sz="1350"/>
              <a:t>Limitations:</a:t>
            </a:r>
            <a:endParaRPr b="1"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Extremely high cost of training and long waiting lists.</a:t>
            </a:r>
            <a:endParaRPr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Requires significant ongoing care, cost, and responsibility.</a:t>
            </a:r>
            <a:endParaRPr sz="1350"/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50"/>
              <a:buChar char="○"/>
            </a:pPr>
            <a:r>
              <a:rPr lang="en" sz="1350"/>
              <a:t>Not a suitable option for everyone due to allergies, lifestyle, or living situation.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Theia Advantage</a:t>
            </a:r>
            <a:endParaRPr/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311700" y="114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{4BD49D9B-FAD0-43E0-9D92-EA036DA41FFC}</a:tableStyleId>
              </a:tblPr>
              <a:tblGrid>
                <a:gridCol w="2187700"/>
                <a:gridCol w="2703600"/>
                <a:gridCol w="3629300"/>
              </a:tblGrid>
              <a:tr h="40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Feature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Traditional Tools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Theia App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2"/>
                    </a:solidFill>
                  </a:tcPr>
                </a:tc>
              </a:tr>
              <a:tr h="620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Obstacle Detection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Ground level (Cane) or general path (Dog)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Multi-level detection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Environmental Context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Relies on user's memory and hearing.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Identifies crosswalks, signs, and points of interest (e.g., "cafe on your left").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3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Navigation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No inherent GPS; relies on learned routes.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Provides real-time, turn-by-turn audio directions and dynamic rerouting.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1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Accessibility &amp; Cost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Low initial cost (Cane) to very high, long-term cost (Dog).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Low cost, instantly accessible on a standard smartphone.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3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Updatability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Static technology.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Constantly evolving with new features and improved accuracy via software updates.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Synergy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Standalone tools.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2"/>
                          </a:solidFill>
                        </a:rPr>
                        <a:t>Enhances the cane by providing digital sight beyond its physical reach.</a:t>
                      </a:r>
                      <a:endParaRPr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:-)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